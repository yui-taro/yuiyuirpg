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341b9cc96f44f1" /><Relationship Type="http://schemas.openxmlformats.org/officeDocument/2006/relationships/extended-properties" Target="/docProps/app.xml" Id="Rbfe8d7e7cc19401b" /><Relationship Type="http://schemas.openxmlformats.org/officeDocument/2006/relationships/officeDocument" Target="/ppt/presentation.xml" Id="R77008fb963064a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7a39d424224627"/>
  </p:sldMasterIdLst>
  <p:notesMasterIdLst>
    <p:notesMasterId xmlns:r="http://schemas.openxmlformats.org/officeDocument/2006/relationships" r:id="R7b9588af2dd84494"/>
  </p:notesMasterIdLst>
  <p:sldIdLst>
    <p:sldId xmlns:r="http://schemas.openxmlformats.org/officeDocument/2006/relationships" id="256" r:id="Re21b216478a3432d"/>
    <p:sldId xmlns:r="http://schemas.openxmlformats.org/officeDocument/2006/relationships" id="257" r:id="R0aa68ec44fda47c4"/>
    <p:sldId xmlns:r="http://schemas.openxmlformats.org/officeDocument/2006/relationships" id="258" r:id="Racd9cf9f7e2345e1"/>
    <p:sldId xmlns:r="http://schemas.openxmlformats.org/officeDocument/2006/relationships" id="259" r:id="R86c4f5bc90bc43e8"/>
    <p:sldId xmlns:r="http://schemas.openxmlformats.org/officeDocument/2006/relationships" id="260" r:id="Re4a6e658d68744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4d671828b44bd8" /><Relationship Type="http://schemas.openxmlformats.org/officeDocument/2006/relationships/slideMaster" Target="/ppt/slideMasters/slideMaster1.xml" Id="Ree7a39d424224627" /><Relationship Type="http://schemas.openxmlformats.org/officeDocument/2006/relationships/notesMaster" Target="/ppt/notesMasters/notesMaster1.xml" Id="R7b9588af2dd84494" /><Relationship Type="http://schemas.openxmlformats.org/officeDocument/2006/relationships/presProps" Target="/ppt/presProps.xml" Id="Rfcb0058550ce47a5" /><Relationship Type="http://schemas.openxmlformats.org/officeDocument/2006/relationships/tableStyles" Target="/ppt/tableStyles.xml" Id="R60a8616c11a1470b" /><Relationship Type="http://schemas.openxmlformats.org/officeDocument/2006/relationships/slide" Target="/ppt/slides/slide1.xml" Id="Re21b216478a3432d" /><Relationship Type="http://schemas.openxmlformats.org/officeDocument/2006/relationships/slide" Target="/ppt/slides/slide2.xml" Id="R0aa68ec44fda47c4" /><Relationship Type="http://schemas.openxmlformats.org/officeDocument/2006/relationships/slide" Target="/ppt/slides/slide3.xml" Id="Racd9cf9f7e2345e1" /><Relationship Type="http://schemas.openxmlformats.org/officeDocument/2006/relationships/slide" Target="/ppt/slides/slide4.xml" Id="R86c4f5bc90bc43e8" /><Relationship Type="http://schemas.openxmlformats.org/officeDocument/2006/relationships/slide" Target="/ppt/slides/slide5.xml" Id="Re4a6e658d68744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302fe0bc8349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aa0fec43f34f9e" /><Relationship Type="http://schemas.openxmlformats.org/officeDocument/2006/relationships/notesMaster" Target="/ppt/notesMasters/notesMaster1.xml" Id="Rdfb92465a77745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35cec5a95544d1" /><Relationship Type="http://schemas.openxmlformats.org/officeDocument/2006/relationships/notesMaster" Target="/ppt/notesMasters/notesMaster1.xml" Id="R367e14dc761d43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3c099dde28473f" /><Relationship Type="http://schemas.openxmlformats.org/officeDocument/2006/relationships/notesMaster" Target="/ppt/notesMasters/notesMaster1.xml" Id="Rf9074cb10b0744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65c73252354a14" /><Relationship Type="http://schemas.openxmlformats.org/officeDocument/2006/relationships/notesMaster" Target="/ppt/notesMasters/notesMaster1.xml" Id="R7474820ae90941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0f366230cf4d6b" /><Relationship Type="http://schemas.openxmlformats.org/officeDocument/2006/relationships/notesMaster" Target="/ppt/notesMasters/notesMaster1.xml" Id="Re56ff1fbe6d241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b1e429ad5047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07d585abe745d8" /><Relationship Type="http://schemas.openxmlformats.org/officeDocument/2006/relationships/slideLayout" Target="/ppt/slideLayouts/slideLayout1.xml" Id="Rc06b21b02d8540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6b21b02d8540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3a53aed484f02" /><Relationship Type="http://schemas.openxmlformats.org/officeDocument/2006/relationships/notesSlide" Target="/ppt/notesSlides/notesSlide1.xml" Id="R33043f4bfac441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31a7e48a9441c" /><Relationship Type="http://schemas.openxmlformats.org/officeDocument/2006/relationships/notesSlide" Target="/ppt/notesSlides/notesSlide2.xml" Id="Rb5eb5f2840fb43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0f02f8fdd450c" /><Relationship Type="http://schemas.openxmlformats.org/officeDocument/2006/relationships/notesSlide" Target="/ppt/notesSlides/notesSlide3.xml" Id="R741a80199e1347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6acbc88e94b72" /><Relationship Type="http://schemas.openxmlformats.org/officeDocument/2006/relationships/notesSlide" Target="/ppt/notesSlides/notesSlide4.xml" Id="R014e3f8effac4a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3ed44363e419b" /><Relationship Type="http://schemas.openxmlformats.org/officeDocument/2006/relationships/notesSlide" Target="/ppt/notesSlides/notesSlide5.xml" Id="Rc45d7f9ef88b41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visual-field">
            <a:extLst xmlns:a="http://schemas.openxmlformats.org/drawingml/2006/main">
              <a:ext uri="{FF2B5EF4-FFF2-40B4-BE49-F238E27FC236}">
                <a16:creationId xmlns:a16="http://schemas.microsoft.com/office/drawing/2014/main" id="{E972556C-ADFC-4F0B-BD01-4899CD2B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0"/>
            <a:ext cx="5048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2" name="cover-mini-flow">
            <a:extLst xmlns:a="http://schemas.openxmlformats.org/drawingml/2006/main">
              <a:ext uri="{FF2B5EF4-FFF2-40B4-BE49-F238E27FC236}">
                <a16:creationId xmlns:a16="http://schemas.microsoft.com/office/drawing/2014/main" id="{11E15E86-5FD4-4093-90DC-9097F674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81125"/>
            <a:ext cx="3524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A0A0A"/>
                </a:solidFill>
              </a:defRPr>
            </a:pPr>
            <a:r>
              <a:rPr sz="2850" b="1">
                <a:solidFill>
                  <a:srgbClr val="0A0A0A"/>
                </a:solidFill>
              </a:rPr>
              <a:t>index.html</a:t>
            </a:r>
          </a:p>
          <a:p xmlns:a="http://schemas.openxmlformats.org/drawingml/2006/main">
            <a:pPr algn="ctr">
              <a:defRPr sz="2850" b="1">
                <a:solidFill>
                  <a:srgbClr val="0A0A0A"/>
                </a:solidFill>
              </a:defRPr>
            </a:pPr>
            <a:r>
              <a:rPr sz="2850" b="1">
                <a:solidFill>
                  <a:srgbClr val="0A0A0A"/>
                </a:solidFill>
              </a:rPr>
              <a:t>↓</a:t>
            </a:r>
          </a:p>
          <a:p xmlns:a="http://schemas.openxmlformats.org/drawingml/2006/main">
            <a:pPr algn="ctr">
              <a:defRPr sz="2850" b="1">
                <a:solidFill>
                  <a:srgbClr val="0A0A0A"/>
                </a:solidFill>
              </a:defRPr>
            </a:pPr>
            <a:r>
              <a:rPr sz="2850" b="1">
                <a:solidFill>
                  <a:srgbClr val="0A0A0A"/>
                </a:solidFill>
              </a:rPr>
              <a:t>src/main.js</a:t>
            </a:r>
          </a:p>
          <a:p xmlns:a="http://schemas.openxmlformats.org/drawingml/2006/main">
            <a:pPr algn="ctr">
              <a:defRPr sz="2850" b="1">
                <a:solidFill>
                  <a:srgbClr val="0A0A0A"/>
                </a:solidFill>
              </a:defRPr>
            </a:pPr>
            <a:r>
              <a:rPr sz="2850" b="1">
                <a:solidFill>
                  <a:srgbClr val="0A0A0A"/>
                </a:solidFill>
              </a:rPr>
              <a:t>↓</a:t>
            </a:r>
          </a:p>
          <a:p xmlns:a="http://schemas.openxmlformats.org/drawingml/2006/main">
            <a:pPr algn="ctr">
              <a:defRPr sz="2850" b="1">
                <a:solidFill>
                  <a:srgbClr val="0A0A0A"/>
                </a:solidFill>
              </a:defRPr>
            </a:pPr>
            <a:r>
              <a:rPr sz="2850" b="1">
                <a:solidFill>
                  <a:srgbClr val="0A0A0A"/>
                </a:solidFill>
              </a:rPr>
              <a:t>src/core/Game.js</a:t>
            </a:r>
          </a:p>
          <a:p xmlns:a="http://schemas.openxmlformats.org/drawingml/2006/main">
            <a:pPr algn="ctr">
              <a:defRPr sz="2850" b="1">
                <a:solidFill>
                  <a:srgbClr val="0A0A0A"/>
                </a:solidFill>
              </a:defRPr>
            </a:pPr>
            <a:r>
              <a:rPr sz="2850" b="1">
                <a:solidFill>
                  <a:srgbClr val="0A0A0A"/>
                </a:solidFill>
              </a:rPr>
              <a:t>↓</a:t>
            </a:r>
          </a:p>
          <a:p xmlns:a="http://schemas.openxmlformats.org/drawingml/2006/main">
            <a:pPr algn="ctr">
              <a:defRPr sz="2850" b="1">
                <a:solidFill>
                  <a:srgbClr val="0A0A0A"/>
                </a:solidFill>
              </a:defRPr>
            </a:pPr>
            <a:r>
              <a:rPr sz="2850" b="1">
                <a:solidFill>
                  <a:srgbClr val="0A0A0A"/>
                </a:solidFill>
              </a:rPr>
              <a:t>Screen / systems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2F9807FE-2E84-4CE7-82E6-50B72BD1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342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2CFE9E4-36E7-4626-8A45-16CA1DC4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YUIYUI RPG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E76A760-65DE-4D3D-92AF-599E424B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1650"/>
            <a:ext cx="590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625" b="1">
                <a:solidFill>
                  <a:srgbClr val="0A0A0A"/>
                </a:solidFill>
              </a:defRPr>
            </a:pPr>
            <a:r>
              <a:rPr sz="5625" b="1">
                <a:solidFill>
                  <a:srgbClr val="0A0A0A"/>
                </a:solidFill>
              </a:rPr>
              <a:t>フォルダ構成と</a:t>
            </a:r>
          </a:p>
          <a:p xmlns:a="http://schemas.openxmlformats.org/drawingml/2006/main">
            <a:pPr algn="l">
              <a:defRPr sz="5625" b="1">
                <a:solidFill>
                  <a:srgbClr val="0A0A0A"/>
                </a:solidFill>
              </a:defRPr>
            </a:pPr>
            <a:r>
              <a:rPr sz="5625" b="1">
                <a:solidFill>
                  <a:srgbClr val="0A0A0A"/>
                </a:solidFill>
              </a:rPr>
              <a:t>処理の流れ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09C5C41-BE75-45AB-AEFE-35762C9C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33875"/>
            <a:ext cx="552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B5563"/>
                </a:solidFill>
              </a:defRPr>
            </a:pPr>
            <a:r>
              <a:rPr sz="2100" b="0">
                <a:solidFill>
                  <a:srgbClr val="4B5563"/>
                </a:solidFill>
              </a:rPr>
              <a:t>どのファイルが、どこから呼ばれ、</a:t>
            </a:r>
          </a:p>
          <a:p xmlns:a="http://schemas.openxmlformats.org/drawingml/2006/main">
            <a:pPr algn="l">
              <a:defRPr sz="2100" b="0">
                <a:solidFill>
                  <a:srgbClr val="4B5563"/>
                </a:solidFill>
              </a:defRPr>
            </a:pPr>
            <a:r>
              <a:rPr sz="2100" b="0">
                <a:solidFill>
                  <a:srgbClr val="4B5563"/>
                </a:solidFill>
              </a:rPr>
              <a:t>画面表示までどうつながるか</a:t>
            </a:r>
          </a:p>
        </p:txBody>
      </p:sp>
      <p:sp>
        <p:nvSpPr>
          <p:cNvPr id="7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6DB0677F-A3F3-45B3-9905-5F4C520A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293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JavaScript / HTML / CSS</a:t>
            </a:r>
          </a:p>
        </p:txBody>
      </p:sp>
    </p:spTree>
    <p:extLst>
      <p:ext uri="{BB962C8B-B14F-4D97-AF65-F5344CB8AC3E}">
        <p14:creationId xmlns:p14="http://schemas.microsoft.com/office/powerpoint/2010/main" val="18033616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70F65BF9-A82B-4A26-87BA-E6AE18EF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A0A0A"/>
                </a:solidFill>
              </a:defRPr>
            </a:pPr>
            <a:r>
              <a:rPr sz="3525" b="1">
                <a:solidFill>
                  <a:srgbClr val="0A0A0A"/>
                </a:solidFill>
              </a:rPr>
              <a:t>全フォルダは Game を中心に3つの流れでつながる</a:t>
            </a:r>
          </a:p>
        </p:txBody>
      </p:sp>
      <p:sp>
        <p:nvSpPr>
          <p:cNvPr id="2" name="slide-2-rule">
            <a:extLst xmlns:a="http://schemas.openxmlformats.org/drawingml/2006/main">
              <a:ext uri="{FF2B5EF4-FFF2-40B4-BE49-F238E27FC236}">
                <a16:creationId xmlns:a16="http://schemas.microsoft.com/office/drawing/2014/main" id="{C650B38E-8D17-44DD-B169-A8941EF2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01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3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ACC70B65-420F-435B-88AA-58BD5A15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8CA19-1B60-454E-8E88-28A5A0ED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① 起動・読込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D6F12-6488-49FD-9B5F-A3E2523B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192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② 入力・進行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EF12F-1435-4C1A-8E25-6DCBFB93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2192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③ 計算・描画</a:t>
            </a:r>
          </a:p>
        </p:txBody>
      </p:sp>
      <p:cxnSp>
        <p:nvCxnSpPr>
          <p:cNvPr id="70" name="a-index-main"/>
          <p:cNvCxnSpPr/>
          <p:nvPr/>
        </p:nvCxnSpPr>
        <p:spPr>
          <a:xfrm xmlns:a="http://schemas.openxmlformats.org/drawingml/2006/main">
            <a:off x="2552700" y="20288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71" name="a-main-game"/>
          <p:cNvCxnSpPr/>
          <p:nvPr/>
        </p:nvCxnSpPr>
        <p:spPr>
          <a:xfrm xmlns:a="http://schemas.openxmlformats.org/drawingml/2006/main">
            <a:off x="5219700" y="20288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72" name="a-json-data"/>
          <p:cNvCxnSpPr/>
          <p:nvPr/>
        </p:nvCxnSpPr>
        <p:spPr>
          <a:xfrm xmlns:a="http://schemas.openxmlformats.org/drawingml/2006/main">
            <a:off x="2552700" y="31432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73" name="a-data-models"/>
          <p:cNvCxnSpPr/>
          <p:nvPr/>
        </p:nvCxnSpPr>
        <p:spPr>
          <a:xfrm xmlns:a="http://schemas.openxmlformats.org/drawingml/2006/main">
            <a:off x="5219700" y="31432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74" name="a-main-data"/>
          <p:cNvCxnSpPr/>
          <p:nvPr/>
        </p:nvCxnSpPr>
        <p:spPr>
          <a:xfrm xmlns:a="http://schemas.openxmlformats.org/drawingml/2006/main">
            <a:off x="3886200" y="260985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75" name="a-game-models"/>
          <p:cNvCxnSpPr/>
          <p:nvPr/>
        </p:nvCxnSpPr>
        <p:spPr>
          <a:xfrm xmlns:a="http://schemas.openxmlformats.org/drawingml/2006/main">
            <a:off x="7124700" y="260985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76" name="a-game-screen"/>
          <p:cNvCxnSpPr/>
          <p:nvPr/>
        </p:nvCxnSpPr>
        <p:spPr>
          <a:xfrm xmlns:a="http://schemas.openxmlformats.org/drawingml/2006/main">
            <a:off x="7381875" y="20288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77" name="a-systems-screen"/>
          <p:cNvCxnSpPr/>
          <p:nvPr/>
        </p:nvCxnSpPr>
        <p:spPr>
          <a:xfrm xmlns:a="http://schemas.openxmlformats.org/drawingml/2006/main">
            <a:off x="7381875" y="44767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78" name="a-screen-images"/>
          <p:cNvCxnSpPr/>
          <p:nvPr/>
        </p:nvCxnSpPr>
        <p:spPr>
          <a:xfrm xmlns:a="http://schemas.openxmlformats.org/drawingml/2006/main">
            <a:off x="10458450" y="260985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79" name="a-screen-dom"/>
          <p:cNvCxnSpPr/>
          <p:nvPr/>
        </p:nvCxnSpPr>
        <p:spPr>
          <a:xfrm xmlns:a="http://schemas.openxmlformats.org/drawingml/2006/main">
            <a:off x="10458450" y="3724275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80" name="a-constants-game"/>
          <p:cNvCxnSpPr/>
          <p:nvPr/>
        </p:nvCxnSpPr>
        <p:spPr>
          <a:xfrm xmlns:a="http://schemas.openxmlformats.org/drawingml/2006/main">
            <a:off x="6553200" y="4381500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dash"/>
          </a:ln>
        </p:spPr>
      </p:cxnSp>
      <p:cxnSp>
        <p:nvCxnSpPr>
          <p:cNvPr id="81" name="a-ui-game"/>
          <p:cNvCxnSpPr/>
          <p:nvPr/>
        </p:nvCxnSpPr>
        <p:spPr>
          <a:xfrm xmlns:a="http://schemas.openxmlformats.org/drawingml/2006/main">
            <a:off x="3886200" y="2381250"/>
            <a:ext cx="1857375" cy="2428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dash"/>
          </a:ln>
        </p:spPr>
      </p:cxnSp>
      <p:sp>
        <p:nvSpPr>
          <p:cNvPr id="19" name="index-box">
            <a:extLst xmlns:a="http://schemas.openxmlformats.org/drawingml/2006/main">
              <a:ext uri="{FF2B5EF4-FFF2-40B4-BE49-F238E27FC236}">
                <a16:creationId xmlns:a16="http://schemas.microsoft.com/office/drawing/2014/main" id="{246A78D6-9109-49AA-A306-9ADFCB2A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21526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index-accent">
            <a:extLst xmlns:a="http://schemas.openxmlformats.org/drawingml/2006/main">
              <a:ext uri="{FF2B5EF4-FFF2-40B4-BE49-F238E27FC236}">
                <a16:creationId xmlns:a16="http://schemas.microsoft.com/office/drawing/2014/main" id="{54E89D31-F9B3-4FC2-90FF-8B271AA0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1" name="index-title">
            <a:extLst xmlns:a="http://schemas.openxmlformats.org/drawingml/2006/main">
              <a:ext uri="{FF2B5EF4-FFF2-40B4-BE49-F238E27FC236}">
                <a16:creationId xmlns:a16="http://schemas.microsoft.com/office/drawing/2014/main" id="{81D4D701-848E-4E89-B0B0-355C25FA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733550"/>
            <a:ext cx="1866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</a:defRPr>
            </a:pPr>
            <a:r>
              <a:rPr sz="1650" b="1">
                <a:solidFill>
                  <a:srgbClr val="0A0A0A"/>
                </a:solidFill>
              </a:rPr>
              <a:t>index.html</a:t>
            </a:r>
          </a:p>
        </p:txBody>
      </p:sp>
      <p:sp>
        <p:nvSpPr>
          <p:cNvPr id="22" name="index-detail">
            <a:extLst xmlns:a="http://schemas.openxmlformats.org/drawingml/2006/main">
              <a:ext uri="{FF2B5EF4-FFF2-40B4-BE49-F238E27FC236}">
                <a16:creationId xmlns:a16="http://schemas.microsoft.com/office/drawing/2014/main" id="{EC9EC369-86F3-4430-86B9-3592D9CF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DOMの土台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JS・CSSを読込</a:t>
            </a:r>
          </a:p>
        </p:txBody>
      </p:sp>
      <p:sp>
        <p:nvSpPr>
          <p:cNvPr id="23" name="main-box">
            <a:extLst xmlns:a="http://schemas.openxmlformats.org/drawingml/2006/main">
              <a:ext uri="{FF2B5EF4-FFF2-40B4-BE49-F238E27FC236}">
                <a16:creationId xmlns:a16="http://schemas.microsoft.com/office/drawing/2014/main" id="{E4959450-824B-4AA7-8FBB-CFEF5E09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619250"/>
            <a:ext cx="21431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main-accent">
            <a:extLst xmlns:a="http://schemas.openxmlformats.org/drawingml/2006/main">
              <a:ext uri="{FF2B5EF4-FFF2-40B4-BE49-F238E27FC236}">
                <a16:creationId xmlns:a16="http://schemas.microsoft.com/office/drawing/2014/main" id="{49A44779-61E1-4636-AFC8-2413868F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6192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5" name="main-title">
            <a:extLst xmlns:a="http://schemas.openxmlformats.org/drawingml/2006/main">
              <a:ext uri="{FF2B5EF4-FFF2-40B4-BE49-F238E27FC236}">
                <a16:creationId xmlns:a16="http://schemas.microsoft.com/office/drawing/2014/main" id="{DF98ED8D-63A2-40AE-AA04-D6DC020E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33550"/>
            <a:ext cx="1857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</a:defRPr>
            </a:pPr>
            <a:r>
              <a:rPr sz="1650" b="1">
                <a:solidFill>
                  <a:srgbClr val="0A0A0A"/>
                </a:solidFill>
              </a:rPr>
              <a:t>src/main.js</a:t>
            </a:r>
          </a:p>
        </p:txBody>
      </p:sp>
      <p:sp>
        <p:nvSpPr>
          <p:cNvPr id="26" name="main-detail">
            <a:extLst xmlns:a="http://schemas.openxmlformats.org/drawingml/2006/main">
              <a:ext uri="{FF2B5EF4-FFF2-40B4-BE49-F238E27FC236}">
                <a16:creationId xmlns:a16="http://schemas.microsoft.com/office/drawing/2014/main" id="{20DDCD3E-C122-4EEF-9A14-7FD92609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47875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部品を生成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Game.start()</a:t>
            </a:r>
          </a:p>
        </p:txBody>
      </p:sp>
      <p:sp>
        <p:nvSpPr>
          <p:cNvPr id="27" name="core-box">
            <a:extLst xmlns:a="http://schemas.openxmlformats.org/drawingml/2006/main">
              <a:ext uri="{FF2B5EF4-FFF2-40B4-BE49-F238E27FC236}">
                <a16:creationId xmlns:a16="http://schemas.microsoft.com/office/drawing/2014/main" id="{166293CD-BBDC-41F0-85D6-16D75370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619250"/>
            <a:ext cx="1638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core-accent">
            <a:extLst xmlns:a="http://schemas.openxmlformats.org/drawingml/2006/main">
              <a:ext uri="{FF2B5EF4-FFF2-40B4-BE49-F238E27FC236}">
                <a16:creationId xmlns:a16="http://schemas.microsoft.com/office/drawing/2014/main" id="{40C1BCD4-9381-46A6-8FD7-2F17E493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6192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9" name="core-title">
            <a:extLst xmlns:a="http://schemas.openxmlformats.org/drawingml/2006/main">
              <a:ext uri="{FF2B5EF4-FFF2-40B4-BE49-F238E27FC236}">
                <a16:creationId xmlns:a16="http://schemas.microsoft.com/office/drawing/2014/main" id="{F4D3C6F7-2309-44EE-AA1E-83E89535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33550"/>
            <a:ext cx="1352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</a:defRPr>
            </a:pPr>
            <a:r>
              <a:rPr sz="1650" b="1">
                <a:solidFill>
                  <a:srgbClr val="0A0A0A"/>
                </a:solidFill>
              </a:rPr>
              <a:t>src/core/</a:t>
            </a:r>
          </a:p>
        </p:txBody>
      </p:sp>
      <p:sp>
        <p:nvSpPr>
          <p:cNvPr id="30" name="core-detail">
            <a:extLst xmlns:a="http://schemas.openxmlformats.org/drawingml/2006/main">
              <a:ext uri="{FF2B5EF4-FFF2-40B4-BE49-F238E27FC236}">
                <a16:creationId xmlns:a16="http://schemas.microsoft.com/office/drawing/2014/main" id="{376FBD27-CD90-4DD0-9EA1-192109F0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47875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状態管理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処理を決定</a:t>
            </a:r>
          </a:p>
        </p:txBody>
      </p:sp>
      <p:sp>
        <p:nvSpPr>
          <p:cNvPr id="31" name="ui-box">
            <a:extLst xmlns:a="http://schemas.openxmlformats.org/drawingml/2006/main">
              <a:ext uri="{FF2B5EF4-FFF2-40B4-BE49-F238E27FC236}">
                <a16:creationId xmlns:a16="http://schemas.microsoft.com/office/drawing/2014/main" id="{EF2D2658-4710-4553-AD24-4D9F8E88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2076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ui-accent">
            <a:extLst xmlns:a="http://schemas.openxmlformats.org/drawingml/2006/main">
              <a:ext uri="{FF2B5EF4-FFF2-40B4-BE49-F238E27FC236}">
                <a16:creationId xmlns:a16="http://schemas.microsoft.com/office/drawing/2014/main" id="{DE7FC006-1391-40EA-961F-81E4035C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33" name="ui-title">
            <a:extLst xmlns:a="http://schemas.openxmlformats.org/drawingml/2006/main">
              <a:ext uri="{FF2B5EF4-FFF2-40B4-BE49-F238E27FC236}">
                <a16:creationId xmlns:a16="http://schemas.microsoft.com/office/drawing/2014/main" id="{5B84F4EC-BCBF-4E85-B2A2-8C3FAA20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733550"/>
            <a:ext cx="1790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</a:defRPr>
            </a:pPr>
            <a:r>
              <a:rPr sz="1650" b="1">
                <a:solidFill>
                  <a:srgbClr val="0A0A0A"/>
                </a:solidFill>
              </a:rPr>
              <a:t>src/ui/</a:t>
            </a:r>
          </a:p>
        </p:txBody>
      </p:sp>
      <p:sp>
        <p:nvSpPr>
          <p:cNvPr id="34" name="ui-detail">
            <a:extLst xmlns:a="http://schemas.openxmlformats.org/drawingml/2006/main">
              <a:ext uri="{FF2B5EF4-FFF2-40B4-BE49-F238E27FC236}">
                <a16:creationId xmlns:a16="http://schemas.microsoft.com/office/drawing/2014/main" id="{9192AA4B-C30B-4F38-966C-61B4E134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047875"/>
            <a:ext cx="179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入力とDOM描画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Screen / Input</a:t>
            </a:r>
          </a:p>
        </p:txBody>
      </p:sp>
      <p:sp>
        <p:nvSpPr>
          <p:cNvPr id="35" name="json-box">
            <a:extLst xmlns:a="http://schemas.openxmlformats.org/drawingml/2006/main">
              <a:ext uri="{FF2B5EF4-FFF2-40B4-BE49-F238E27FC236}">
                <a16:creationId xmlns:a16="http://schemas.microsoft.com/office/drawing/2014/main" id="{C30E6C41-4DC9-4AE0-A3C6-48423292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33675"/>
            <a:ext cx="21526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json-accent">
            <a:extLst xmlns:a="http://schemas.openxmlformats.org/drawingml/2006/main">
              <a:ext uri="{FF2B5EF4-FFF2-40B4-BE49-F238E27FC236}">
                <a16:creationId xmlns:a16="http://schemas.microsoft.com/office/drawing/2014/main" id="{FF8E3E49-1BAF-471C-A46D-89DF3282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33675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7" name="json-title">
            <a:extLst xmlns:a="http://schemas.openxmlformats.org/drawingml/2006/main">
              <a:ext uri="{FF2B5EF4-FFF2-40B4-BE49-F238E27FC236}">
                <a16:creationId xmlns:a16="http://schemas.microsoft.com/office/drawing/2014/main" id="{63CFE90E-B959-4F39-A7E9-787EC78B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847975"/>
            <a:ext cx="1866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</a:defRPr>
            </a:pPr>
            <a:r>
              <a:rPr sz="1650" b="1">
                <a:solidFill>
                  <a:srgbClr val="0A0A0A"/>
                </a:solidFill>
              </a:rPr>
              <a:t>character.json</a:t>
            </a:r>
          </a:p>
        </p:txBody>
      </p:sp>
      <p:sp>
        <p:nvSpPr>
          <p:cNvPr id="38" name="json-detail">
            <a:extLst xmlns:a="http://schemas.openxmlformats.org/drawingml/2006/main">
              <a:ext uri="{FF2B5EF4-FFF2-40B4-BE49-F238E27FC236}">
                <a16:creationId xmlns:a16="http://schemas.microsoft.com/office/drawing/2014/main" id="{3C6C0F92-87FA-42FA-BBFF-0B9FD41D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6230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キャラ・スキル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保存データ</a:t>
            </a:r>
          </a:p>
        </p:txBody>
      </p:sp>
      <p:sp>
        <p:nvSpPr>
          <p:cNvPr id="39" name="data-box">
            <a:extLst xmlns:a="http://schemas.openxmlformats.org/drawingml/2006/main">
              <a:ext uri="{FF2B5EF4-FFF2-40B4-BE49-F238E27FC236}">
                <a16:creationId xmlns:a16="http://schemas.microsoft.com/office/drawing/2014/main" id="{5560AAC9-4C31-4D44-9CEE-AC349DC7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733675"/>
            <a:ext cx="21431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data-accent">
            <a:extLst xmlns:a="http://schemas.openxmlformats.org/drawingml/2006/main">
              <a:ext uri="{FF2B5EF4-FFF2-40B4-BE49-F238E27FC236}">
                <a16:creationId xmlns:a16="http://schemas.microsoft.com/office/drawing/2014/main" id="{BF79C39D-BD90-455C-9AED-7207DD00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733675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1" name="data-title">
            <a:extLst xmlns:a="http://schemas.openxmlformats.org/drawingml/2006/main">
              <a:ext uri="{FF2B5EF4-FFF2-40B4-BE49-F238E27FC236}">
                <a16:creationId xmlns:a16="http://schemas.microsoft.com/office/drawing/2014/main" id="{A49EC6D1-31AE-4590-B265-CEEC2CAA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47975"/>
            <a:ext cx="1857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</a:defRPr>
            </a:pPr>
            <a:r>
              <a:rPr sz="1650" b="1">
                <a:solidFill>
                  <a:srgbClr val="0A0A0A"/>
                </a:solidFill>
              </a:rPr>
              <a:t>src/data/</a:t>
            </a:r>
          </a:p>
        </p:txBody>
      </p:sp>
      <p:sp>
        <p:nvSpPr>
          <p:cNvPr id="42" name="data-detail">
            <a:extLst xmlns:a="http://schemas.openxmlformats.org/drawingml/2006/main">
              <a:ext uri="{FF2B5EF4-FFF2-40B4-BE49-F238E27FC236}">
                <a16:creationId xmlns:a16="http://schemas.microsoft.com/office/drawing/2014/main" id="{C2162B08-387C-422B-A84E-117145AD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6230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JSON → モデル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CharacterLorder</a:t>
            </a:r>
          </a:p>
        </p:txBody>
      </p:sp>
      <p:sp>
        <p:nvSpPr>
          <p:cNvPr id="43" name="models-box">
            <a:extLst xmlns:a="http://schemas.openxmlformats.org/drawingml/2006/main">
              <a:ext uri="{FF2B5EF4-FFF2-40B4-BE49-F238E27FC236}">
                <a16:creationId xmlns:a16="http://schemas.microsoft.com/office/drawing/2014/main" id="{54A8AB5A-3238-4286-AC98-F077F652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733675"/>
            <a:ext cx="1638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models-accent">
            <a:extLst xmlns:a="http://schemas.openxmlformats.org/drawingml/2006/main">
              <a:ext uri="{FF2B5EF4-FFF2-40B4-BE49-F238E27FC236}">
                <a16:creationId xmlns:a16="http://schemas.microsoft.com/office/drawing/2014/main" id="{4280E836-FA89-4048-B5DE-D76669F9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733675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5" name="models-title">
            <a:extLst xmlns:a="http://schemas.openxmlformats.org/drawingml/2006/main">
              <a:ext uri="{FF2B5EF4-FFF2-40B4-BE49-F238E27FC236}">
                <a16:creationId xmlns:a16="http://schemas.microsoft.com/office/drawing/2014/main" id="{01952DBA-CFE7-4B92-A23D-BD70A4CD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47975"/>
            <a:ext cx="1352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A0A"/>
                </a:solidFill>
              </a:defRPr>
            </a:pPr>
            <a:r>
              <a:rPr sz="1500" b="1">
                <a:solidFill>
                  <a:srgbClr val="0A0A0A"/>
                </a:solidFill>
              </a:rPr>
              <a:t>src/models/</a:t>
            </a:r>
          </a:p>
        </p:txBody>
      </p:sp>
      <p:sp>
        <p:nvSpPr>
          <p:cNvPr id="46" name="models-detail">
            <a:extLst xmlns:a="http://schemas.openxmlformats.org/drawingml/2006/main">
              <a:ext uri="{FF2B5EF4-FFF2-40B4-BE49-F238E27FC236}">
                <a16:creationId xmlns:a16="http://schemas.microsoft.com/office/drawing/2014/main" id="{BB2E545E-9DA3-4863-ACE8-F2AF3104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62300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キャラ・技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データ管理</a:t>
            </a:r>
          </a:p>
        </p:txBody>
      </p:sp>
      <p:sp>
        <p:nvSpPr>
          <p:cNvPr id="47" name="images-box">
            <a:extLst xmlns:a="http://schemas.openxmlformats.org/drawingml/2006/main">
              <a:ext uri="{FF2B5EF4-FFF2-40B4-BE49-F238E27FC236}">
                <a16:creationId xmlns:a16="http://schemas.microsoft.com/office/drawing/2014/main" id="{0D4FF5CD-A107-4876-B63E-19F72578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733675"/>
            <a:ext cx="1752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images-accent">
            <a:extLst xmlns:a="http://schemas.openxmlformats.org/drawingml/2006/main">
              <a:ext uri="{FF2B5EF4-FFF2-40B4-BE49-F238E27FC236}">
                <a16:creationId xmlns:a16="http://schemas.microsoft.com/office/drawing/2014/main" id="{7B407454-5085-49B9-9024-07238FCB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733675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9" name="images-title">
            <a:extLst xmlns:a="http://schemas.openxmlformats.org/drawingml/2006/main">
              <a:ext uri="{FF2B5EF4-FFF2-40B4-BE49-F238E27FC236}">
                <a16:creationId xmlns:a16="http://schemas.microsoft.com/office/drawing/2014/main" id="{DF1174BC-460A-4388-BC99-B3AE18F1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847975"/>
            <a:ext cx="1466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</a:defRPr>
            </a:pPr>
            <a:r>
              <a:rPr sz="1650" b="1">
                <a:solidFill>
                  <a:srgbClr val="0A0A0A"/>
                </a:solidFill>
              </a:rPr>
              <a:t>images/</a:t>
            </a:r>
          </a:p>
        </p:txBody>
      </p:sp>
      <p:sp>
        <p:nvSpPr>
          <p:cNvPr id="50" name="images-detail">
            <a:extLst xmlns:a="http://schemas.openxmlformats.org/drawingml/2006/main">
              <a:ext uri="{FF2B5EF4-FFF2-40B4-BE49-F238E27FC236}">
                <a16:creationId xmlns:a16="http://schemas.microsoft.com/office/drawing/2014/main" id="{A2A546C2-17CA-47C3-AFE9-B99BAC48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1623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背景・キャラ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画像を表示</a:t>
            </a:r>
          </a:p>
        </p:txBody>
      </p:sp>
      <p:sp>
        <p:nvSpPr>
          <p:cNvPr id="51" name="constants-box">
            <a:extLst xmlns:a="http://schemas.openxmlformats.org/drawingml/2006/main">
              <a:ext uri="{FF2B5EF4-FFF2-40B4-BE49-F238E27FC236}">
                <a16:creationId xmlns:a16="http://schemas.microsoft.com/office/drawing/2014/main" id="{74B2A3CB-D01C-448B-BAF9-87D9B409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248150"/>
            <a:ext cx="1638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2" name="constants-accent">
            <a:extLst xmlns:a="http://schemas.openxmlformats.org/drawingml/2006/main">
              <a:ext uri="{FF2B5EF4-FFF2-40B4-BE49-F238E27FC236}">
                <a16:creationId xmlns:a16="http://schemas.microsoft.com/office/drawing/2014/main" id="{3F714424-EC33-4F4E-850C-18668AFA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2481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3" name="constants-title">
            <a:extLst xmlns:a="http://schemas.openxmlformats.org/drawingml/2006/main">
              <a:ext uri="{FF2B5EF4-FFF2-40B4-BE49-F238E27FC236}">
                <a16:creationId xmlns:a16="http://schemas.microsoft.com/office/drawing/2014/main" id="{DFFEBFEA-ADF3-478E-8E97-2BA4D303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62450"/>
            <a:ext cx="1352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0A0A"/>
                </a:solidFill>
              </a:defRPr>
            </a:pPr>
            <a:r>
              <a:rPr sz="1425" b="1">
                <a:solidFill>
                  <a:srgbClr val="0A0A0A"/>
                </a:solidFill>
              </a:rPr>
              <a:t>src/constants/</a:t>
            </a:r>
          </a:p>
        </p:txBody>
      </p:sp>
      <p:sp>
        <p:nvSpPr>
          <p:cNvPr id="54" name="constants-detail">
            <a:extLst xmlns:a="http://schemas.openxmlformats.org/drawingml/2006/main">
              <a:ext uri="{FF2B5EF4-FFF2-40B4-BE49-F238E27FC236}">
                <a16:creationId xmlns:a16="http://schemas.microsoft.com/office/drawing/2014/main" id="{CE0F3083-DE78-4841-81ED-9D586722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676775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画面フェーズ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操作を制御</a:t>
            </a:r>
          </a:p>
        </p:txBody>
      </p:sp>
      <p:sp>
        <p:nvSpPr>
          <p:cNvPr id="55" name="systems-box">
            <a:extLst xmlns:a="http://schemas.openxmlformats.org/drawingml/2006/main">
              <a:ext uri="{FF2B5EF4-FFF2-40B4-BE49-F238E27FC236}">
                <a16:creationId xmlns:a16="http://schemas.microsoft.com/office/drawing/2014/main" id="{748D3436-19A9-4CA5-8649-D696FF6B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48150"/>
            <a:ext cx="2076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6" name="systems-accent">
            <a:extLst xmlns:a="http://schemas.openxmlformats.org/drawingml/2006/main">
              <a:ext uri="{FF2B5EF4-FFF2-40B4-BE49-F238E27FC236}">
                <a16:creationId xmlns:a16="http://schemas.microsoft.com/office/drawing/2014/main" id="{6266CFAF-2972-4266-B1C5-FF94E427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481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57" name="systems-title">
            <a:extLst xmlns:a="http://schemas.openxmlformats.org/drawingml/2006/main">
              <a:ext uri="{FF2B5EF4-FFF2-40B4-BE49-F238E27FC236}">
                <a16:creationId xmlns:a16="http://schemas.microsoft.com/office/drawing/2014/main" id="{2A3BA235-E90B-45E4-B346-8736DD3F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362450"/>
            <a:ext cx="1790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A0A"/>
                </a:solidFill>
              </a:defRPr>
            </a:pPr>
            <a:r>
              <a:rPr sz="1500" b="1">
                <a:solidFill>
                  <a:srgbClr val="0A0A0A"/>
                </a:solidFill>
              </a:rPr>
              <a:t>src/systems/</a:t>
            </a:r>
          </a:p>
        </p:txBody>
      </p:sp>
      <p:sp>
        <p:nvSpPr>
          <p:cNvPr id="58" name="systems-detail">
            <a:extLst xmlns:a="http://schemas.openxmlformats.org/drawingml/2006/main">
              <a:ext uri="{FF2B5EF4-FFF2-40B4-BE49-F238E27FC236}">
                <a16:creationId xmlns:a16="http://schemas.microsoft.com/office/drawing/2014/main" id="{6A51FF49-3CE8-42DB-878F-E26CF85D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676775"/>
            <a:ext cx="179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戦闘・報酬・敵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ルール計算</a:t>
            </a:r>
          </a:p>
        </p:txBody>
      </p:sp>
      <p:sp>
        <p:nvSpPr>
          <p:cNvPr id="59" name="css-box">
            <a:extLst xmlns:a="http://schemas.openxmlformats.org/drawingml/2006/main">
              <a:ext uri="{FF2B5EF4-FFF2-40B4-BE49-F238E27FC236}">
                <a16:creationId xmlns:a16="http://schemas.microsoft.com/office/drawing/2014/main" id="{4E6ECC41-4F11-4C9C-BBAE-C9E65DF3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248150"/>
            <a:ext cx="1752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0" name="css-accent">
            <a:extLst xmlns:a="http://schemas.openxmlformats.org/drawingml/2006/main">
              <a:ext uri="{FF2B5EF4-FFF2-40B4-BE49-F238E27FC236}">
                <a16:creationId xmlns:a16="http://schemas.microsoft.com/office/drawing/2014/main" id="{C021E83D-B32B-488C-A415-ECFB12BD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2481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1" name="css-title">
            <a:extLst xmlns:a="http://schemas.openxmlformats.org/drawingml/2006/main">
              <a:ext uri="{FF2B5EF4-FFF2-40B4-BE49-F238E27FC236}">
                <a16:creationId xmlns:a16="http://schemas.microsoft.com/office/drawing/2014/main" id="{C89F073C-5640-4483-AC84-B81B95C6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362450"/>
            <a:ext cx="1466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</a:defRPr>
            </a:pPr>
            <a:r>
              <a:rPr sz="1650" b="1">
                <a:solidFill>
                  <a:srgbClr val="0A0A0A"/>
                </a:solidFill>
              </a:rPr>
              <a:t>style.css</a:t>
            </a:r>
          </a:p>
        </p:txBody>
      </p:sp>
      <p:sp>
        <p:nvSpPr>
          <p:cNvPr id="62" name="css-detail">
            <a:extLst xmlns:a="http://schemas.openxmlformats.org/drawingml/2006/main">
              <a:ext uri="{FF2B5EF4-FFF2-40B4-BE49-F238E27FC236}">
                <a16:creationId xmlns:a16="http://schemas.microsoft.com/office/drawing/2014/main" id="{3D5E4D79-F9CD-4D38-81C8-742379DB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676775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配置・色・表示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画面切替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A9B750F-7A09-44F4-B60D-3AF060E9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補助ドキュメント：AGENTS.md / clean-code-guide.md / project-complete-guide.md / 流れ.md</a:t>
            </a:r>
          </a:p>
        </p:txBody>
      </p:sp>
    </p:spTree>
    <p:extLst>
      <p:ext uri="{BB962C8B-B14F-4D97-AF65-F5344CB8AC3E}">
        <p14:creationId xmlns:p14="http://schemas.microsoft.com/office/powerpoint/2010/main" val="10718467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B8BEF735-14DC-417B-BD7B-94555881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A0A0A"/>
                </a:solidFill>
              </a:defRPr>
            </a:pPr>
            <a:r>
              <a:rPr sz="3525" b="1">
                <a:solidFill>
                  <a:srgbClr val="0A0A0A"/>
                </a:solidFill>
              </a:rPr>
              <a:t>起動時は「読込 → 生成 → 接続 → 描画」の順に進む</a:t>
            </a:r>
          </a:p>
        </p:txBody>
      </p:sp>
      <p:sp>
        <p:nvSpPr>
          <p:cNvPr id="2" name="slide-3-rule">
            <a:extLst xmlns:a="http://schemas.openxmlformats.org/drawingml/2006/main">
              <a:ext uri="{FF2B5EF4-FFF2-40B4-BE49-F238E27FC236}">
                <a16:creationId xmlns:a16="http://schemas.microsoft.com/office/drawing/2014/main" id="{AEC7A3AF-CAE4-4403-8F57-9702CA63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01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3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DFCBFEEB-40C5-4C11-99E2-77537350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3</a:t>
            </a:r>
          </a:p>
        </p:txBody>
      </p:sp>
      <p:cxnSp>
        <p:nvCxnSpPr>
          <p:cNvPr id="43" name="startup-arrow-1"/>
          <p:cNvCxnSpPr/>
          <p:nvPr/>
        </p:nvCxnSpPr>
        <p:spPr>
          <a:xfrm xmlns:a="http://schemas.openxmlformats.org/drawingml/2006/main">
            <a:off x="1752600" y="31242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4" name="startup-arrow-2"/>
          <p:cNvCxnSpPr/>
          <p:nvPr/>
        </p:nvCxnSpPr>
        <p:spPr>
          <a:xfrm xmlns:a="http://schemas.openxmlformats.org/drawingml/2006/main">
            <a:off x="3409950" y="31242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5" name="startup-arrow-3"/>
          <p:cNvCxnSpPr/>
          <p:nvPr/>
        </p:nvCxnSpPr>
        <p:spPr>
          <a:xfrm xmlns:a="http://schemas.openxmlformats.org/drawingml/2006/main">
            <a:off x="5067300" y="31242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6" name="startup-arrow-4"/>
          <p:cNvCxnSpPr/>
          <p:nvPr/>
        </p:nvCxnSpPr>
        <p:spPr>
          <a:xfrm xmlns:a="http://schemas.openxmlformats.org/drawingml/2006/main">
            <a:off x="6724650" y="31242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7" name="startup-arrow-5"/>
          <p:cNvCxnSpPr/>
          <p:nvPr/>
        </p:nvCxnSpPr>
        <p:spPr>
          <a:xfrm xmlns:a="http://schemas.openxmlformats.org/drawingml/2006/main">
            <a:off x="8382000" y="31242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8" name="startup-arrow-6"/>
          <p:cNvCxnSpPr/>
          <p:nvPr/>
        </p:nvCxnSpPr>
        <p:spPr>
          <a:xfrm xmlns:a="http://schemas.openxmlformats.org/drawingml/2006/main">
            <a:off x="10039350" y="31242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0" name="startup-card-1">
            <a:extLst xmlns:a="http://schemas.openxmlformats.org/drawingml/2006/main">
              <a:ext uri="{FF2B5EF4-FFF2-40B4-BE49-F238E27FC236}">
                <a16:creationId xmlns:a16="http://schemas.microsoft.com/office/drawing/2014/main" id="{D43FDD41-53F3-43D4-98D7-896D6839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13525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16D777-99FA-4DCB-823E-621C9145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8C05DE-E86A-4D3A-81B0-399E8B77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A0A"/>
                </a:solidFill>
              </a:defRPr>
            </a:pPr>
            <a:r>
              <a:rPr sz="1575" b="1">
                <a:solidFill>
                  <a:srgbClr val="0A0A0A"/>
                </a:solidFill>
              </a:rPr>
              <a:t>index.html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301FD2-7F23-4B35-A3C9-542EE314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1104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ブラウザが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JSを実行</a:t>
            </a:r>
          </a:p>
        </p:txBody>
      </p:sp>
      <p:sp>
        <p:nvSpPr>
          <p:cNvPr id="14" name="startup-card-2">
            <a:extLst xmlns:a="http://schemas.openxmlformats.org/drawingml/2006/main">
              <a:ext uri="{FF2B5EF4-FFF2-40B4-BE49-F238E27FC236}">
                <a16:creationId xmlns:a16="http://schemas.microsoft.com/office/drawing/2014/main" id="{382C6754-0C7D-480B-A35D-CD863995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114550"/>
            <a:ext cx="13525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17D906-3B57-47C7-B26F-0BC6F5D1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669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AEA91B-9AE2-4242-A8E7-00E32FEF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241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Character</a:t>
            </a:r>
          </a:p>
          <a:p xmlns:a="http://schemas.openxmlformats.org/drawingml/2006/main">
            <a:pPr algn="l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Lorder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A8F297-75EB-42CF-AC75-4270A3F0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33750"/>
            <a:ext cx="1104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fetch()で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JSON読込</a:t>
            </a:r>
          </a:p>
        </p:txBody>
      </p:sp>
      <p:sp>
        <p:nvSpPr>
          <p:cNvPr id="18" name="startup-card-3">
            <a:extLst xmlns:a="http://schemas.openxmlformats.org/drawingml/2006/main">
              <a:ext uri="{FF2B5EF4-FFF2-40B4-BE49-F238E27FC236}">
                <a16:creationId xmlns:a16="http://schemas.microsoft.com/office/drawing/2014/main" id="{8E12614D-6CC3-4E18-8750-BB1109AE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14550"/>
            <a:ext cx="13525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5BFD50-432A-4F42-A02E-1BF6B2ED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669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7C96D9-73D9-4E17-A5EF-96CEB509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241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A0A"/>
                </a:solidFill>
              </a:defRPr>
            </a:pPr>
            <a:r>
              <a:rPr sz="1575" b="1">
                <a:solidFill>
                  <a:srgbClr val="0A0A0A"/>
                </a:solidFill>
              </a:rPr>
              <a:t>models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98FF03-7608-44CF-A77A-BC30D0AF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333750"/>
            <a:ext cx="1104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モデルを生成</a:t>
            </a:r>
          </a:p>
        </p:txBody>
      </p:sp>
      <p:sp>
        <p:nvSpPr>
          <p:cNvPr id="22" name="startup-card-4">
            <a:extLst xmlns:a="http://schemas.openxmlformats.org/drawingml/2006/main">
              <a:ext uri="{FF2B5EF4-FFF2-40B4-BE49-F238E27FC236}">
                <a16:creationId xmlns:a16="http://schemas.microsoft.com/office/drawing/2014/main" id="{54BB5CA6-6D0F-4778-9D78-945845B9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14550"/>
            <a:ext cx="13525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CE9E7D-C93B-47F9-8902-E9D9BD41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669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AFD4C8-BD16-42AF-9792-9C68AD16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241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A0A"/>
                </a:solidFill>
              </a:defRPr>
            </a:pPr>
            <a:r>
              <a:rPr sz="1575" b="1">
                <a:solidFill>
                  <a:srgbClr val="0A0A0A"/>
                </a:solidFill>
              </a:rPr>
              <a:t>main.js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1799BB-FE55-47DE-BEA0-1A7ABFC0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333750"/>
            <a:ext cx="1104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Screen等を生成</a:t>
            </a:r>
          </a:p>
        </p:txBody>
      </p:sp>
      <p:sp>
        <p:nvSpPr>
          <p:cNvPr id="26" name="startup-card-5">
            <a:extLst xmlns:a="http://schemas.openxmlformats.org/drawingml/2006/main">
              <a:ext uri="{FF2B5EF4-FFF2-40B4-BE49-F238E27FC236}">
                <a16:creationId xmlns:a16="http://schemas.microsoft.com/office/drawing/2014/main" id="{EFFBAB3E-BB6A-4C1F-9F57-CE52312D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14550"/>
            <a:ext cx="13525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9EA31A-94E9-40C7-92D3-13F2B2DA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669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365BFA-8F8B-46B2-A309-BF6820CB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241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A0A"/>
                </a:solidFill>
              </a:defRPr>
            </a:pPr>
            <a:r>
              <a:rPr sz="1575" b="1">
                <a:solidFill>
                  <a:srgbClr val="0A0A0A"/>
                </a:solidFill>
              </a:rPr>
              <a:t>Game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8FB9A3-4028-404E-8A2D-C2791D58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33750"/>
            <a:ext cx="1104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部品を受取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状態を初期化</a:t>
            </a:r>
          </a:p>
        </p:txBody>
      </p:sp>
      <p:sp>
        <p:nvSpPr>
          <p:cNvPr id="30" name="startup-card-6">
            <a:extLst xmlns:a="http://schemas.openxmlformats.org/drawingml/2006/main">
              <a:ext uri="{FF2B5EF4-FFF2-40B4-BE49-F238E27FC236}">
                <a16:creationId xmlns:a16="http://schemas.microsoft.com/office/drawing/2014/main" id="{F36F3910-280F-45ED-8BB8-EE15AEC4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14550"/>
            <a:ext cx="13525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76F5CB-A58E-4E9F-902C-9C85152A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669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BC5A11-CA52-41A6-83C5-E2104DED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241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A0A"/>
                </a:solidFill>
              </a:defRPr>
            </a:pPr>
            <a:r>
              <a:rPr sz="1575" b="1">
                <a:solidFill>
                  <a:srgbClr val="0A0A0A"/>
                </a:solidFill>
              </a:rPr>
              <a:t>start()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74B2E2-AF8B-49FD-8E60-0E2A7EB1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33750"/>
            <a:ext cx="1104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クリック処理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登録</a:t>
            </a:r>
          </a:p>
        </p:txBody>
      </p:sp>
      <p:sp>
        <p:nvSpPr>
          <p:cNvPr id="34" name="startup-card-7">
            <a:extLst xmlns:a="http://schemas.openxmlformats.org/drawingml/2006/main">
              <a:ext uri="{FF2B5EF4-FFF2-40B4-BE49-F238E27FC236}">
                <a16:creationId xmlns:a16="http://schemas.microsoft.com/office/drawing/2014/main" id="{2454B27D-E27E-48BA-A823-760DD63B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14550"/>
            <a:ext cx="13525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73017D-9574-4E3A-842C-198D7FCD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669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07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D096ED-C88E-473B-9FDD-F889A62B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7241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A0A"/>
                </a:solidFill>
              </a:defRPr>
            </a:pPr>
            <a:r>
              <a:rPr sz="1575" b="1">
                <a:solidFill>
                  <a:srgbClr val="0A0A0A"/>
                </a:solidFill>
              </a:rPr>
              <a:t>Screen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1CC984-9D62-4D67-8018-98D59BB8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33750"/>
            <a:ext cx="1104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タイトル画面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描画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BB5F67-896D-4A0C-9719-E79AAF24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ポイント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503474-F360-483E-8551-44F1BCBC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A0A0A"/>
                </a:solidFill>
              </a:defRPr>
            </a:pPr>
            <a:r>
              <a:rPr sz="1875" b="0">
                <a:solidFill>
                  <a:srgbClr val="0A0A0A"/>
                </a:solidFill>
              </a:rPr>
              <a:t>main.js は入口に徹し、ゲームの判断は Game、DOM描画は Screen、数値計算は systems に任せる。</a:t>
            </a:r>
          </a:p>
        </p:txBody>
      </p:sp>
    </p:spTree>
    <p:extLst>
      <p:ext uri="{BB962C8B-B14F-4D97-AF65-F5344CB8AC3E}">
        <p14:creationId xmlns:p14="http://schemas.microsoft.com/office/powerpoint/2010/main" val="17264198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CB1AE7AA-7FE6-462F-878E-82C5C237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A0A0A"/>
                </a:solidFill>
              </a:defRPr>
            </a:pPr>
            <a:r>
              <a:rPr sz="3525" b="1">
                <a:solidFill>
                  <a:srgbClr val="0A0A0A"/>
                </a:solidFill>
              </a:rPr>
              <a:t>クリックは Game を通り、最新状態が画面へ戻る</a:t>
            </a:r>
          </a:p>
        </p:txBody>
      </p:sp>
      <p:sp>
        <p:nvSpPr>
          <p:cNvPr id="2" name="slide-4-rule">
            <a:extLst xmlns:a="http://schemas.openxmlformats.org/drawingml/2006/main">
              <a:ext uri="{FF2B5EF4-FFF2-40B4-BE49-F238E27FC236}">
                <a16:creationId xmlns:a16="http://schemas.microsoft.com/office/drawing/2014/main" id="{D89A1263-1998-4F81-B582-3AF27309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01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3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97ED8D1E-D15F-4180-9176-D374FDFA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4</a:t>
            </a:r>
          </a:p>
        </p:txBody>
      </p:sp>
      <p:cxnSp>
        <p:nvCxnSpPr>
          <p:cNvPr id="34" name="input-a1"/>
          <p:cNvCxnSpPr/>
          <p:nvPr/>
        </p:nvCxnSpPr>
        <p:spPr>
          <a:xfrm xmlns:a="http://schemas.openxmlformats.org/drawingml/2006/main">
            <a:off x="2333625" y="31813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5" name="input-a2"/>
          <p:cNvCxnSpPr/>
          <p:nvPr/>
        </p:nvCxnSpPr>
        <p:spPr>
          <a:xfrm xmlns:a="http://schemas.openxmlformats.org/drawingml/2006/main">
            <a:off x="5048250" y="31813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6" name="input-a3"/>
          <p:cNvCxnSpPr/>
          <p:nvPr/>
        </p:nvCxnSpPr>
        <p:spPr>
          <a:xfrm xmlns:a="http://schemas.openxmlformats.org/drawingml/2006/main">
            <a:off x="7762875" y="31813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7" name="input-feedback"/>
          <p:cNvCxnSpPr/>
          <p:nvPr/>
        </p:nvCxnSpPr>
        <p:spPr>
          <a:xfrm xmlns:a="http://schemas.openxmlformats.org/drawingml/2006/main">
            <a:off x="1714500" y="4476750"/>
            <a:ext cx="876300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dash"/>
          </a:ln>
        </p:spPr>
      </p:cxnSp>
      <p:sp>
        <p:nvSpPr>
          <p:cNvPr id="8" name="interaction-node-1-box">
            <a:extLst xmlns:a="http://schemas.openxmlformats.org/drawingml/2006/main">
              <a:ext uri="{FF2B5EF4-FFF2-40B4-BE49-F238E27FC236}">
                <a16:creationId xmlns:a16="http://schemas.microsoft.com/office/drawing/2014/main" id="{2126175F-3B36-4A55-B2A5-B28BFCD2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19335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interaction-node-1-accent">
            <a:extLst xmlns:a="http://schemas.openxmlformats.org/drawingml/2006/main">
              <a:ext uri="{FF2B5EF4-FFF2-40B4-BE49-F238E27FC236}">
                <a16:creationId xmlns:a16="http://schemas.microsoft.com/office/drawing/2014/main" id="{08420744-53AC-45F3-B465-A8E4B79C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interaction-node-1-title">
            <a:extLst xmlns:a="http://schemas.openxmlformats.org/drawingml/2006/main">
              <a:ext uri="{FF2B5EF4-FFF2-40B4-BE49-F238E27FC236}">
                <a16:creationId xmlns:a16="http://schemas.microsoft.com/office/drawing/2014/main" id="{0D607C09-3A77-4252-A195-FD153B68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47925"/>
            <a:ext cx="1647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</a:defRPr>
            </a:pPr>
            <a:r>
              <a:rPr sz="1800" b="1">
                <a:solidFill>
                  <a:srgbClr val="0A0A0A"/>
                </a:solidFill>
              </a:rPr>
              <a:t>button</a:t>
            </a:r>
          </a:p>
        </p:txBody>
      </p:sp>
      <p:sp>
        <p:nvSpPr>
          <p:cNvPr id="11" name="interaction-node-1-detail">
            <a:extLst xmlns:a="http://schemas.openxmlformats.org/drawingml/2006/main">
              <a:ext uri="{FF2B5EF4-FFF2-40B4-BE49-F238E27FC236}">
                <a16:creationId xmlns:a16="http://schemas.microsoft.com/office/drawing/2014/main" id="{9893118D-B2B6-4818-9676-105E26A5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762250"/>
            <a:ext cx="16478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data-action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data-skill-index</a:t>
            </a:r>
          </a:p>
        </p:txBody>
      </p:sp>
      <p:sp>
        <p:nvSpPr>
          <p:cNvPr id="12" name="interaction-node-2-box">
            <a:extLst xmlns:a="http://schemas.openxmlformats.org/drawingml/2006/main">
              <a:ext uri="{FF2B5EF4-FFF2-40B4-BE49-F238E27FC236}">
                <a16:creationId xmlns:a16="http://schemas.microsoft.com/office/drawing/2014/main" id="{BFEADA24-FD7B-4510-BB9B-58FAD519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33625"/>
            <a:ext cx="2095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interaction-node-2-accent">
            <a:extLst xmlns:a="http://schemas.openxmlformats.org/drawingml/2006/main">
              <a:ext uri="{FF2B5EF4-FFF2-40B4-BE49-F238E27FC236}">
                <a16:creationId xmlns:a16="http://schemas.microsoft.com/office/drawing/2014/main" id="{D29A9680-E42F-419E-98BF-49910C19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33625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14" name="interaction-node-2-title">
            <a:extLst xmlns:a="http://schemas.openxmlformats.org/drawingml/2006/main">
              <a:ext uri="{FF2B5EF4-FFF2-40B4-BE49-F238E27FC236}">
                <a16:creationId xmlns:a16="http://schemas.microsoft.com/office/drawing/2014/main" id="{FE5D69F6-AC2D-4EC3-BF0F-041C957E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447925"/>
            <a:ext cx="180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A0A"/>
                </a:solidFill>
              </a:defRPr>
            </a:pPr>
            <a:r>
              <a:rPr sz="1500" b="1">
                <a:solidFill>
                  <a:srgbClr val="0A0A0A"/>
                </a:solidFill>
              </a:rPr>
              <a:t>InputController</a:t>
            </a:r>
          </a:p>
        </p:txBody>
      </p:sp>
      <p:sp>
        <p:nvSpPr>
          <p:cNvPr id="15" name="interaction-node-2-detail">
            <a:extLst xmlns:a="http://schemas.openxmlformats.org/drawingml/2006/main">
              <a:ext uri="{FF2B5EF4-FFF2-40B4-BE49-F238E27FC236}">
                <a16:creationId xmlns:a16="http://schemas.microsoft.com/office/drawing/2014/main" id="{CE2BB1C3-87E7-4B3A-96B9-798601E7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762250"/>
            <a:ext cx="1809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datasetを読み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inputにまとめる</a:t>
            </a:r>
          </a:p>
        </p:txBody>
      </p:sp>
      <p:sp>
        <p:nvSpPr>
          <p:cNvPr id="16" name="interaction-node-3-box">
            <a:extLst xmlns:a="http://schemas.openxmlformats.org/drawingml/2006/main">
              <a:ext uri="{FF2B5EF4-FFF2-40B4-BE49-F238E27FC236}">
                <a16:creationId xmlns:a16="http://schemas.microsoft.com/office/drawing/2014/main" id="{CE397A46-93DF-4B54-B3AC-5807FB51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333625"/>
            <a:ext cx="2095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interaction-node-3-accent">
            <a:extLst xmlns:a="http://schemas.openxmlformats.org/drawingml/2006/main">
              <a:ext uri="{FF2B5EF4-FFF2-40B4-BE49-F238E27FC236}">
                <a16:creationId xmlns:a16="http://schemas.microsoft.com/office/drawing/2014/main" id="{DAD1279C-CA2D-49E7-A6A4-ADA873E6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333625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8" name="interaction-node-3-title">
            <a:extLst xmlns:a="http://schemas.openxmlformats.org/drawingml/2006/main">
              <a:ext uri="{FF2B5EF4-FFF2-40B4-BE49-F238E27FC236}">
                <a16:creationId xmlns:a16="http://schemas.microsoft.com/office/drawing/2014/main" id="{9BE7CF18-9520-4D8E-BFA5-5801EB2F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47925"/>
            <a:ext cx="180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</a:defRPr>
            </a:pPr>
            <a:r>
              <a:rPr sz="1800" b="1">
                <a:solidFill>
                  <a:srgbClr val="0A0A0A"/>
                </a:solidFill>
              </a:rPr>
              <a:t>Game</a:t>
            </a:r>
          </a:p>
        </p:txBody>
      </p:sp>
      <p:sp>
        <p:nvSpPr>
          <p:cNvPr id="19" name="interaction-node-3-detail">
            <a:extLst xmlns:a="http://schemas.openxmlformats.org/drawingml/2006/main">
              <a:ext uri="{FF2B5EF4-FFF2-40B4-BE49-F238E27FC236}">
                <a16:creationId xmlns:a16="http://schemas.microsoft.com/office/drawing/2014/main" id="{57FDF1D9-65B4-4984-AFAC-87B97EE5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62250"/>
            <a:ext cx="1809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phaseを確認し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次の処理を決定</a:t>
            </a:r>
          </a:p>
        </p:txBody>
      </p:sp>
      <p:sp>
        <p:nvSpPr>
          <p:cNvPr id="20" name="interaction-node-4-box">
            <a:extLst xmlns:a="http://schemas.openxmlformats.org/drawingml/2006/main">
              <a:ext uri="{FF2B5EF4-FFF2-40B4-BE49-F238E27FC236}">
                <a16:creationId xmlns:a16="http://schemas.microsoft.com/office/drawing/2014/main" id="{62842A79-6E23-4634-B18D-087DFD0D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33625"/>
            <a:ext cx="2095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interaction-node-4-accent">
            <a:extLst xmlns:a="http://schemas.openxmlformats.org/drawingml/2006/main">
              <a:ext uri="{FF2B5EF4-FFF2-40B4-BE49-F238E27FC236}">
                <a16:creationId xmlns:a16="http://schemas.microsoft.com/office/drawing/2014/main" id="{3FAA076E-1E2F-41F0-A266-B9D5C992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33625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22" name="interaction-node-4-title">
            <a:extLst xmlns:a="http://schemas.openxmlformats.org/drawingml/2006/main">
              <a:ext uri="{FF2B5EF4-FFF2-40B4-BE49-F238E27FC236}">
                <a16:creationId xmlns:a16="http://schemas.microsoft.com/office/drawing/2014/main" id="{5A8FCA2C-5EAC-439B-A962-731EC8C3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447925"/>
            <a:ext cx="180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A0A"/>
                </a:solidFill>
              </a:defRPr>
            </a:pPr>
            <a:r>
              <a:rPr sz="1500" b="1">
                <a:solidFill>
                  <a:srgbClr val="0A0A0A"/>
                </a:solidFill>
              </a:rPr>
              <a:t>systems / models</a:t>
            </a:r>
          </a:p>
        </p:txBody>
      </p:sp>
      <p:sp>
        <p:nvSpPr>
          <p:cNvPr id="23" name="interaction-node-4-detail">
            <a:extLst xmlns:a="http://schemas.openxmlformats.org/drawingml/2006/main">
              <a:ext uri="{FF2B5EF4-FFF2-40B4-BE49-F238E27FC236}">
                <a16:creationId xmlns:a16="http://schemas.microsoft.com/office/drawing/2014/main" id="{5669523E-A6C1-4376-9DA5-86C3D6AE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762250"/>
            <a:ext cx="1809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HP・MPを更新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勝敗・報酬を計算</a:t>
            </a:r>
          </a:p>
        </p:txBody>
      </p:sp>
      <p:sp>
        <p:nvSpPr>
          <p:cNvPr id="24" name="interaction-screen-box">
            <a:extLst xmlns:a="http://schemas.openxmlformats.org/drawingml/2006/main">
              <a:ext uri="{FF2B5EF4-FFF2-40B4-BE49-F238E27FC236}">
                <a16:creationId xmlns:a16="http://schemas.microsoft.com/office/drawing/2014/main" id="{BF4BBCB3-585F-44A9-A21B-B19BC720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24375"/>
            <a:ext cx="22669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interaction-screen-accent">
            <a:extLst xmlns:a="http://schemas.openxmlformats.org/drawingml/2006/main">
              <a:ext uri="{FF2B5EF4-FFF2-40B4-BE49-F238E27FC236}">
                <a16:creationId xmlns:a16="http://schemas.microsoft.com/office/drawing/2014/main" id="{5F21093C-0EF8-4D3D-8CB9-63D48A58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24375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26" name="interaction-screen-title">
            <a:extLst xmlns:a="http://schemas.openxmlformats.org/drawingml/2006/main">
              <a:ext uri="{FF2B5EF4-FFF2-40B4-BE49-F238E27FC236}">
                <a16:creationId xmlns:a16="http://schemas.microsoft.com/office/drawing/2014/main" id="{0490C363-00D7-45F4-AF63-9E54B187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638675"/>
            <a:ext cx="1981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0A0A"/>
                </a:solidFill>
              </a:defRPr>
            </a:pPr>
            <a:r>
              <a:rPr sz="1725" b="1">
                <a:solidFill>
                  <a:srgbClr val="0A0A0A"/>
                </a:solidFill>
              </a:rPr>
              <a:t>Screen + CSS</a:t>
            </a:r>
          </a:p>
        </p:txBody>
      </p:sp>
      <p:sp>
        <p:nvSpPr>
          <p:cNvPr id="27" name="interaction-screen-detail">
            <a:extLst xmlns:a="http://schemas.openxmlformats.org/drawingml/2006/main">
              <a:ext uri="{FF2B5EF4-FFF2-40B4-BE49-F238E27FC236}">
                <a16:creationId xmlns:a16="http://schemas.microsoft.com/office/drawing/2014/main" id="{EF3CCC8D-439E-4E97-904F-D5678700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953000"/>
            <a:ext cx="1981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最新値をDOMへ描画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CSSクラスで見た目を変更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A428EF-6A0A-4D3C-8C81-5DD3ED8C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入力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3A0B74-C7E7-4F1D-AEC8-CC66813F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6192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9E0B"/>
                </a:solidFill>
              </a:defRPr>
            </a:pPr>
            <a:r>
              <a:rPr sz="1650" b="1">
                <a:solidFill>
                  <a:srgbClr val="F59E0B"/>
                </a:solidFill>
              </a:rPr>
              <a:t>状態更新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5E1A50-AADB-4D3A-94AF-BFEFDFF1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055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C55E"/>
                </a:solidFill>
              </a:defRPr>
            </a:pPr>
            <a:r>
              <a:rPr sz="1500" b="1">
                <a:solidFill>
                  <a:srgbClr val="22C55E"/>
                </a:solidFill>
              </a:rPr>
              <a:t>再描画</a:t>
            </a:r>
          </a:p>
        </p:txBody>
      </p:sp>
    </p:spTree>
    <p:extLst>
      <p:ext uri="{BB962C8B-B14F-4D97-AF65-F5344CB8AC3E}">
        <p14:creationId xmlns:p14="http://schemas.microsoft.com/office/powerpoint/2010/main" val="15226654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91D0B4FC-FF0F-4D25-B957-82F77B25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A0A0A"/>
                </a:solidFill>
              </a:defRPr>
            </a:pPr>
            <a:r>
              <a:rPr sz="3525" b="1">
                <a:solidFill>
                  <a:srgbClr val="0A0A0A"/>
                </a:solidFill>
              </a:rPr>
              <a:t>画面フェーズが、許可する操作と次の画面を決める</a:t>
            </a:r>
          </a:p>
        </p:txBody>
      </p:sp>
      <p:sp>
        <p:nvSpPr>
          <p:cNvPr id="2" name="slide-5-rule">
            <a:extLst xmlns:a="http://schemas.openxmlformats.org/drawingml/2006/main">
              <a:ext uri="{FF2B5EF4-FFF2-40B4-BE49-F238E27FC236}">
                <a16:creationId xmlns:a16="http://schemas.microsoft.com/office/drawing/2014/main" id="{ED362C2B-A70C-4F76-B336-0C5ACC02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01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3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0FC2A819-B1CF-4C96-BB6A-0FCDFF41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5</a:t>
            </a:r>
          </a:p>
        </p:txBody>
      </p:sp>
      <p:cxnSp>
        <p:nvCxnSpPr>
          <p:cNvPr id="38" name="phase-arrow-1"/>
          <p:cNvCxnSpPr/>
          <p:nvPr/>
        </p:nvCxnSpPr>
        <p:spPr>
          <a:xfrm xmlns:a="http://schemas.openxmlformats.org/drawingml/2006/main">
            <a:off x="2162175" y="264795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9" name="phase-arrow-2"/>
          <p:cNvCxnSpPr/>
          <p:nvPr/>
        </p:nvCxnSpPr>
        <p:spPr>
          <a:xfrm xmlns:a="http://schemas.openxmlformats.org/drawingml/2006/main">
            <a:off x="4524375" y="264795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0" name="phase-arrow-3"/>
          <p:cNvCxnSpPr/>
          <p:nvPr/>
        </p:nvCxnSpPr>
        <p:spPr>
          <a:xfrm xmlns:a="http://schemas.openxmlformats.org/drawingml/2006/main">
            <a:off x="6886575" y="264795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1" name="phase-arrow-4"/>
          <p:cNvCxnSpPr/>
          <p:nvPr/>
        </p:nvCxnSpPr>
        <p:spPr>
          <a:xfrm xmlns:a="http://schemas.openxmlformats.org/drawingml/2006/main">
            <a:off x="9248775" y="264795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2" name="phase-loop"/>
          <p:cNvCxnSpPr/>
          <p:nvPr/>
        </p:nvCxnSpPr>
        <p:spPr>
          <a:xfrm xmlns:a="http://schemas.openxmlformats.org/drawingml/2006/main">
            <a:off x="2762250" y="3905250"/>
            <a:ext cx="800100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dash"/>
          </a:ln>
        </p:spPr>
      </p:cxnSp>
      <p:cxnSp>
        <p:nvCxnSpPr>
          <p:cNvPr id="43" name="phase-restart"/>
          <p:cNvCxnSpPr/>
          <p:nvPr/>
        </p:nvCxnSpPr>
        <p:spPr>
          <a:xfrm xmlns:a="http://schemas.openxmlformats.org/drawingml/2006/main">
            <a:off x="400050" y="4524375"/>
            <a:ext cx="1036320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dash"/>
          </a:ln>
        </p:spPr>
      </p:cxnSp>
      <p:sp>
        <p:nvSpPr>
          <p:cNvPr id="10" name="phase-1">
            <a:extLst xmlns:a="http://schemas.openxmlformats.org/drawingml/2006/main">
              <a:ext uri="{FF2B5EF4-FFF2-40B4-BE49-F238E27FC236}">
                <a16:creationId xmlns:a16="http://schemas.microsoft.com/office/drawing/2014/main" id="{E0786956-F770-4D23-AD8C-8835639D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17621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B8651-D0E0-49F2-B829-233C84C1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495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TITLE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D23372-60DC-4BD0-A11A-CD1CD7C8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1495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A0A"/>
                </a:solidFill>
              </a:defRPr>
            </a:pPr>
            <a:r>
              <a:rPr sz="2025" b="1">
                <a:solidFill>
                  <a:srgbClr val="0A0A0A"/>
                </a:solidFill>
              </a:rPr>
              <a:t>タイトル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9E0B60-C673-425F-A3A2-09B46C3A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9900"/>
            <a:ext cx="1495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start-game</a:t>
            </a:r>
          </a:p>
        </p:txBody>
      </p:sp>
      <p:sp>
        <p:nvSpPr>
          <p:cNvPr id="14" name="phase-2">
            <a:extLst xmlns:a="http://schemas.openxmlformats.org/drawingml/2006/main">
              <a:ext uri="{FF2B5EF4-FFF2-40B4-BE49-F238E27FC236}">
                <a16:creationId xmlns:a16="http://schemas.microsoft.com/office/drawing/2014/main" id="{7020BF2C-AC87-4FE6-9237-6885C4B4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52625"/>
            <a:ext cx="17621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79ED04-DAF4-400D-A830-7DCF7C31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95500"/>
            <a:ext cx="1495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PLAYER_SELECT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40BA20-EF37-4BD4-88EA-EF4A8BD7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33650"/>
            <a:ext cx="1495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A0A"/>
                </a:solidFill>
              </a:defRPr>
            </a:pPr>
            <a:r>
              <a:rPr sz="2025" b="1">
                <a:solidFill>
                  <a:srgbClr val="0A0A0A"/>
                </a:solidFill>
              </a:rPr>
              <a:t>キャラ選択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8478EF-1AF9-48E0-90D2-33636AF5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09900"/>
            <a:ext cx="1495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select-player</a:t>
            </a:r>
          </a:p>
        </p:txBody>
      </p:sp>
      <p:sp>
        <p:nvSpPr>
          <p:cNvPr id="18" name="phase-3">
            <a:extLst xmlns:a="http://schemas.openxmlformats.org/drawingml/2006/main">
              <a:ext uri="{FF2B5EF4-FFF2-40B4-BE49-F238E27FC236}">
                <a16:creationId xmlns:a16="http://schemas.microsoft.com/office/drawing/2014/main" id="{FA17A6F2-2F42-4ACD-93CE-23D20DCC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52625"/>
            <a:ext cx="17621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DE081D-4D22-43C1-A918-17826626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95500"/>
            <a:ext cx="1495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5309"/>
                </a:solidFill>
              </a:defRPr>
            </a:pPr>
            <a:r>
              <a:rPr sz="1500" b="1">
                <a:solidFill>
                  <a:srgbClr val="B45309"/>
                </a:solidFill>
              </a:rPr>
              <a:t>BATTLE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7DE622-AA59-47A6-95B0-F4D63199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33650"/>
            <a:ext cx="1495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A0A"/>
                </a:solidFill>
              </a:defRPr>
            </a:pPr>
            <a:r>
              <a:rPr sz="2025" b="1">
                <a:solidFill>
                  <a:srgbClr val="0A0A0A"/>
                </a:solidFill>
              </a:rPr>
              <a:t>戦闘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5C4285-0B7B-49B6-BACF-6DF3C7CA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09900"/>
            <a:ext cx="1495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attack / skill</a:t>
            </a:r>
          </a:p>
        </p:txBody>
      </p:sp>
      <p:sp>
        <p:nvSpPr>
          <p:cNvPr id="22" name="phase-4">
            <a:extLst xmlns:a="http://schemas.openxmlformats.org/drawingml/2006/main">
              <a:ext uri="{FF2B5EF4-FFF2-40B4-BE49-F238E27FC236}">
                <a16:creationId xmlns:a16="http://schemas.microsoft.com/office/drawing/2014/main" id="{E1256F91-A1A7-460D-9E50-E9A6D37C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52625"/>
            <a:ext cx="17621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DF599B-939F-4176-9144-5DBCA10C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1495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REWARD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7AC599-8B01-4DEA-A2AA-6E4E8E79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33650"/>
            <a:ext cx="1495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A0A"/>
                </a:solidFill>
              </a:defRPr>
            </a:pPr>
            <a:r>
              <a:rPr sz="2025" b="1">
                <a:solidFill>
                  <a:srgbClr val="0A0A0A"/>
                </a:solidFill>
              </a:rPr>
              <a:t>報酬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75FB41-ABB5-4BEE-AE35-15A3B124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9900"/>
            <a:ext cx="1495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強化・回復・習得</a:t>
            </a:r>
          </a:p>
        </p:txBody>
      </p:sp>
      <p:sp>
        <p:nvSpPr>
          <p:cNvPr id="26" name="phase-5">
            <a:extLst xmlns:a="http://schemas.openxmlformats.org/drawingml/2006/main">
              <a:ext uri="{FF2B5EF4-FFF2-40B4-BE49-F238E27FC236}">
                <a16:creationId xmlns:a16="http://schemas.microsoft.com/office/drawing/2014/main" id="{236143DB-7D03-4675-BF56-D10072AE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952625"/>
            <a:ext cx="17621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306057-87F7-4678-BD33-D3AEBB1F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095500"/>
            <a:ext cx="1495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GAME_OVER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FD0A3A-68D5-4339-B5AB-541C738F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33650"/>
            <a:ext cx="1495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A0A"/>
                </a:solidFill>
              </a:defRPr>
            </a:pPr>
            <a:r>
              <a:rPr sz="2025" b="1">
                <a:solidFill>
                  <a:srgbClr val="0A0A0A"/>
                </a:solidFill>
              </a:rPr>
              <a:t>敗北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E51153-F3C1-49A4-9B44-699309B4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09900"/>
            <a:ext cx="1495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restart-game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2B2D8C-3175-48C3-9CEB-18097738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9052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勝利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63B850-B2D4-4151-9B6D-30BB1F3E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0532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報酬選択後は次の敵を生成して BATTLE へ戻る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90D49F-728E-4535-90EF-13993354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052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C2626"/>
                </a:solidFill>
              </a:defRPr>
            </a:pPr>
            <a:r>
              <a:rPr sz="1500" b="1">
                <a:solidFill>
                  <a:srgbClr val="DC2626"/>
                </a:solidFill>
              </a:rPr>
              <a:t>敗北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930CAE-0369-4458-B03F-50DA3033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197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restart-game で状態をリセットし TITLE へ戻る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DE8A08-53B4-4E84-8A27-39A00C56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53125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A0A0A"/>
                </a:solidFill>
              </a:defRPr>
            </a:pPr>
            <a:r>
              <a:rPr sz="1875" b="1">
                <a:solidFill>
                  <a:srgbClr val="0A0A0A"/>
                </a:solidFill>
              </a:rPr>
              <a:t>Game.phase = 操作の許可　　bodyのCSSクラス = 見た目</a:t>
            </a:r>
          </a:p>
        </p:txBody>
      </p:sp>
    </p:spTree>
    <p:extLst>
      <p:ext uri="{BB962C8B-B14F-4D97-AF65-F5344CB8AC3E}">
        <p14:creationId xmlns:p14="http://schemas.microsoft.com/office/powerpoint/2010/main" val="11379955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2026-07-26T11:19:32.5170000Z</dcterms:created>
  <dcterms:modified xsi:type="dcterms:W3CDTF">2026-07-26T11:19:32.5180000Z</dcterms:modified>
</coreProperties>
</file>